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400" b="1">
                <a:solidFill>
                  <a:srgbClr val="1B3F8A"/>
                </a:solidFill>
                <a:latin typeface="Kaiti SC"/>
                <a:ea typeface="Kaiti SC"/>
              </a:rPr>
              <a:t>操作系统实践 · 开学第一课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099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dirty="0" err="1">
                <a:solidFill>
                  <a:srgbClr val="232A31"/>
                </a:solidFill>
                <a:latin typeface="Kaiti SC"/>
                <a:ea typeface="Kaiti SC"/>
              </a:rPr>
              <a:t>本次课核心内容：一、课程组织与成绩评定方案</a:t>
            </a:r>
            <a:r>
              <a:rPr sz="2600" b="0" dirty="0">
                <a:solidFill>
                  <a:srgbClr val="232A31"/>
                </a:solidFill>
                <a:latin typeface="Kaiti SC"/>
                <a:ea typeface="Kaiti SC"/>
              </a:rPr>
              <a:t>；</a:t>
            </a:r>
            <a:endParaRPr lang="en-US" sz="26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 algn="l">
              <a:lnSpc>
                <a:spcPct val="130000"/>
              </a:lnSpc>
            </a:pPr>
            <a:r>
              <a:rPr lang="zh-CN" altLang="en-US" sz="2600" dirty="0">
                <a:solidFill>
                  <a:srgbClr val="232A31"/>
                </a:solidFill>
                <a:latin typeface="Kaiti SC"/>
                <a:ea typeface="Kaiti SC"/>
              </a:rPr>
              <a:t>                                </a:t>
            </a:r>
            <a:r>
              <a:rPr sz="2600" b="0" dirty="0">
                <a:solidFill>
                  <a:srgbClr val="232A31"/>
                </a:solidFill>
                <a:latin typeface="Kaiti SC"/>
                <a:ea typeface="Kaiti SC"/>
              </a:rPr>
              <a:t>二、实验零（lab0）启动——</a:t>
            </a:r>
            <a:r>
              <a:rPr sz="2600" b="0" dirty="0" err="1">
                <a:solidFill>
                  <a:srgbClr val="232A31"/>
                </a:solidFill>
                <a:latin typeface="Kaiti SC"/>
                <a:ea typeface="Kaiti SC"/>
              </a:rPr>
              <a:t>系统架构研读</a:t>
            </a:r>
            <a:endParaRPr sz="2600" b="0" dirty="0">
              <a:solidFill>
                <a:srgbClr val="232A31"/>
              </a:solidFill>
              <a:latin typeface="Kaiti SC"/>
              <a:ea typeface="Kaiti S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0728655" cy="12801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200" b="0">
                <a:solidFill>
                  <a:srgbClr val="232A31"/>
                </a:solidFill>
                <a:latin typeface="Kaiti SC"/>
                <a:ea typeface="Kaiti SC"/>
              </a:rPr>
              <a:t>立足系统底层，从基础框架逐步演进，十五周内自主构建出完整的操作系统内核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606C"/>
                </a:solidFill>
                <a:latin typeface="Kaiti SC"/>
                <a:ea typeface="Kaiti SC"/>
              </a:rPr>
              <a:t>✎ 课程各项规程与要求详见《学生须知》，本节课重点介绍核心要点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这门课和原理课的区别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立足工程实现，突出系统设计、编码实现与自主验证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1819656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原理课程：掌握系统概念与运行机理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聚焦进程管理、虚拟内存、调度算法等核心原理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侧重理论推导与机制理解，考查概念与经典模型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86000"/>
            <a:ext cx="5303520" cy="1819656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实践课程：亲手实现并调通操作系统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从基础框架逐步累积构建，深入掌控系统底层细节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需求设计、编写测试、故障排查、现场答辩——全面提升工程素养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" y="4425696"/>
            <a:ext cx="2468880" cy="137160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分析设计</a:t>
            </a:r>
          </a:p>
          <a:p>
            <a:pPr algn="ctr">
              <a:lnSpc>
                <a:spcPct val="128000"/>
              </a:lnSpc>
            </a:pPr>
            <a:r>
              <a:rPr sz="1900" b="0">
                <a:solidFill>
                  <a:srgbClr val="232A31"/>
                </a:solidFill>
                <a:latin typeface="Kaiti SC"/>
                <a:ea typeface="Kaiti SC"/>
              </a:rPr>
              <a:t>动手前明确接口规格与约束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98648" y="4956048"/>
            <a:ext cx="356616" cy="310896"/>
          </a:xfrm>
          <a:prstGeom prst="rightArrow">
            <a:avLst/>
          </a:prstGeom>
          <a:solidFill>
            <a:srgbClr val="1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28416" y="4425696"/>
            <a:ext cx="2468880" cy="137160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测试先行</a:t>
            </a:r>
          </a:p>
          <a:p>
            <a:pPr algn="ctr">
              <a:lnSpc>
                <a:spcPct val="128000"/>
              </a:lnSpc>
            </a:pPr>
            <a:r>
              <a:rPr sz="1900" b="0">
                <a:solidFill>
                  <a:srgbClr val="232A31"/>
                </a:solidFill>
                <a:latin typeface="Kaiti SC"/>
                <a:ea typeface="Kaiti SC"/>
              </a:rPr>
              <a:t>提前设计测试用例与边界验证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0448" y="4956048"/>
            <a:ext cx="356616" cy="310896"/>
          </a:xfrm>
          <a:prstGeom prst="rightArrow">
            <a:avLst/>
          </a:prstGeom>
          <a:solidFill>
            <a:srgbClr val="1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0216" y="4425696"/>
            <a:ext cx="2468880" cy="137160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指导实现</a:t>
            </a:r>
          </a:p>
          <a:p>
            <a:pPr algn="ctr">
              <a:lnSpc>
                <a:spcPct val="128000"/>
              </a:lnSpc>
            </a:pPr>
            <a:r>
              <a:rPr sz="1900" b="0">
                <a:solidFill>
                  <a:srgbClr val="232A31"/>
                </a:solidFill>
                <a:latin typeface="Kaiti SC"/>
                <a:ea typeface="Kaiti SC"/>
              </a:rPr>
              <a:t>结合个性化参数指导编码实现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42248" y="4956048"/>
            <a:ext cx="356616" cy="310896"/>
          </a:xfrm>
          <a:prstGeom prst="rightArrow">
            <a:avLst/>
          </a:prstGeom>
          <a:solidFill>
            <a:srgbClr val="1B3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72016" y="4425696"/>
            <a:ext cx="2468880" cy="137160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答辩验收</a:t>
            </a:r>
          </a:p>
          <a:p>
            <a:pPr algn="ctr">
              <a:lnSpc>
                <a:spcPct val="128000"/>
              </a:lnSpc>
            </a:pPr>
            <a:r>
              <a:rPr sz="1900" b="0">
                <a:solidFill>
                  <a:srgbClr val="232A31"/>
                </a:solidFill>
                <a:latin typeface="Kaiti SC"/>
                <a:ea typeface="Kaiti SC"/>
              </a:rPr>
              <a:t>面对面阐明内部机理与设计逻辑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606C"/>
                </a:solidFill>
                <a:latin typeface="Kaiti SC"/>
                <a:ea typeface="Kaiti SC"/>
              </a:rPr>
              <a:t>✎ 实验以两周为一轮推进；自编测试用于验证设计正确性，标准测试用例随增量包下发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从零累积构建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两周为一个实验周期 · 每周 4 学时 · 每周期包含两次课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第 1 次课（4 学时）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实验导学：核心机理、架构全貌与常见设计陷阱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启动开发：领取基线或合入新模块增量代码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版本管理检查：逐人核查 Git 初始化与首次提交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86000"/>
            <a:ext cx="530352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第 2 次课（4 学时）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上机实践与教师巡场答疑指导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实验现场验收：每生面对面答辩 5–8 分钟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支持提前验收：已完成同学可随时申请现场答辩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606C"/>
                </a:solidFill>
                <a:latin typeface="Kaiti SC"/>
                <a:ea typeface="Kaiti SC"/>
              </a:rPr>
              <a:t>✎ 第 1 周发放初始个性化基线代码（按学号生成）；后续各轮发放全班统一的模块增量包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成绩评定方案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功能测试确定成绩基准，口试问答评定最终档位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246888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750" b="1">
                <a:solidFill>
                  <a:srgbClr val="1B3F8A"/>
                </a:solidFill>
                <a:latin typeface="Kaiti SC"/>
                <a:ea typeface="Kaiti SC"/>
              </a:rPr>
              <a:t>平时现场验收 —— 占总评 70%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实验一占 10%，实验二至七各占 15%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运行标准测试用例检验功能完整性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三题口试定档：机理 / 参数 / 定位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303520" cy="246888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750" b="1">
                <a:solidFill>
                  <a:srgbClr val="1B3F8A"/>
                </a:solidFill>
                <a:latin typeface="Kaiti SC"/>
                <a:ea typeface="Kaiti SC"/>
              </a:rPr>
              <a:t>期末综合考查 —— 占总评 30%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第 14 周闭卷现场考查（10分，占10%）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第 15 周综合实验报告（20分，占20%）</a:t>
            </a:r>
          </a:p>
          <a:p>
            <a:pPr algn="ctr">
              <a:lnSpc>
                <a:spcPct val="128000"/>
              </a:lnSpc>
            </a:pPr>
            <a:r>
              <a:rPr sz="1750" b="0">
                <a:solidFill>
                  <a:srgbClr val="232A31"/>
                </a:solidFill>
                <a:latin typeface="Kaiti SC"/>
                <a:ea typeface="Kaiti SC"/>
              </a:rPr>
              <a:t>两项得分直接相加计入期末考查成绩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26280"/>
            <a:ext cx="10911535" cy="164592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750" b="1" dirty="0" err="1">
                <a:solidFill>
                  <a:srgbClr val="1B3F8A"/>
                </a:solidFill>
                <a:latin typeface="Kaiti SC"/>
                <a:ea typeface="Kaiti SC"/>
              </a:rPr>
              <a:t>档位原则：单核实现完善且答辩优秀即评</a:t>
            </a:r>
            <a:r>
              <a:rPr sz="1750" b="1" dirty="0">
                <a:solidFill>
                  <a:srgbClr val="1B3F8A"/>
                </a:solidFill>
                <a:latin typeface="Kaiti SC"/>
                <a:ea typeface="Kaiti SC"/>
              </a:rPr>
              <a:t> A 档（95分）；</a:t>
            </a:r>
            <a:endParaRPr lang="en-US" sz="1750" b="1" dirty="0">
              <a:solidFill>
                <a:srgbClr val="1B3F8A"/>
              </a:solidFill>
              <a:latin typeface="Kaiti SC"/>
              <a:ea typeface="Kaiti SC"/>
            </a:endParaRPr>
          </a:p>
          <a:p>
            <a:pPr algn="ctr">
              <a:lnSpc>
                <a:spcPct val="128000"/>
              </a:lnSpc>
            </a:pPr>
            <a:r>
              <a:rPr lang="zh-CN" altLang="en-US" sz="1750" b="1" dirty="0">
                <a:solidFill>
                  <a:srgbClr val="1B3F8A"/>
                </a:solidFill>
                <a:latin typeface="Kaiti SC"/>
                <a:ea typeface="Kaiti SC"/>
              </a:rPr>
              <a:t>                               </a:t>
            </a:r>
            <a:r>
              <a:rPr sz="1750" b="1" dirty="0" err="1">
                <a:solidFill>
                  <a:srgbClr val="1B3F8A"/>
                </a:solidFill>
                <a:latin typeface="Kaiti SC"/>
                <a:ea typeface="Kaiti SC"/>
              </a:rPr>
              <a:t>双核</a:t>
            </a:r>
            <a:r>
              <a:rPr sz="1750" b="1" dirty="0">
                <a:solidFill>
                  <a:srgbClr val="1B3F8A"/>
                </a:solidFill>
                <a:latin typeface="Kaiti SC"/>
                <a:ea typeface="Kaiti SC"/>
              </a:rPr>
              <a:t>（-</a:t>
            </a:r>
            <a:r>
              <a:rPr sz="1750" b="1" dirty="0" err="1">
                <a:solidFill>
                  <a:srgbClr val="1B3F8A"/>
                </a:solidFill>
                <a:latin typeface="Kaiti SC"/>
                <a:ea typeface="Kaiti SC"/>
              </a:rPr>
              <a:t>smp</a:t>
            </a:r>
            <a:r>
              <a:rPr sz="1750" b="1" dirty="0">
                <a:solidFill>
                  <a:srgbClr val="1B3F8A"/>
                </a:solidFill>
                <a:latin typeface="Kaiti SC"/>
                <a:ea typeface="Kaiti SC"/>
              </a:rPr>
              <a:t> 2）自愿挑战独立加分 +3；各轮独立评分</a:t>
            </a:r>
          </a:p>
          <a:p>
            <a:pPr algn="ctr">
              <a:lnSpc>
                <a:spcPct val="128000"/>
              </a:lnSpc>
            </a:pPr>
            <a:r>
              <a:rPr sz="1750" b="0" dirty="0" err="1">
                <a:solidFill>
                  <a:srgbClr val="232A31"/>
                </a:solidFill>
                <a:latin typeface="Kaiti SC"/>
                <a:ea typeface="Kaiti SC"/>
              </a:rPr>
              <a:t>质量要求：答辩无法解释机理者视情况降档；核心功能缺失按基础档评定</a:t>
            </a:r>
            <a:r>
              <a:rPr sz="1750" b="0" dirty="0">
                <a:solidFill>
                  <a:srgbClr val="232A31"/>
                </a:solidFill>
                <a:latin typeface="Kaiti SC"/>
                <a:ea typeface="Kaiti SC"/>
              </a:rPr>
              <a:t>。</a:t>
            </a:r>
            <a:endParaRPr lang="en-US" sz="175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 algn="ctr">
              <a:lnSpc>
                <a:spcPct val="128000"/>
              </a:lnSpc>
            </a:pPr>
            <a:r>
              <a:rPr sz="1750" b="0" dirty="0" err="1">
                <a:solidFill>
                  <a:srgbClr val="232A31"/>
                </a:solidFill>
                <a:latin typeface="Kaiti SC"/>
                <a:ea typeface="Kaiti SC"/>
              </a:rPr>
              <a:t>重在真正理解与掌握代码</a:t>
            </a:r>
            <a:endParaRPr sz="1750" b="0" dirty="0">
              <a:solidFill>
                <a:srgbClr val="232A31"/>
              </a:solidFill>
              <a:latin typeface="Kaiti SC"/>
              <a:ea typeface="Kaiti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两项核心教学原则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 dirty="0" err="1">
                <a:solidFill>
                  <a:srgbClr val="1B3F8A"/>
                </a:solidFill>
                <a:latin typeface="Kaiti SC"/>
                <a:ea typeface="Kaiti SC"/>
              </a:rPr>
              <a:t>原则一</a:t>
            </a:r>
            <a:r>
              <a:rPr sz="2000" b="1" dirty="0">
                <a:solidFill>
                  <a:srgbClr val="1B3F8A"/>
                </a:solidFill>
                <a:latin typeface="Kaiti SC"/>
                <a:ea typeface="Kaiti SC"/>
              </a:rPr>
              <a:t> · </a:t>
            </a:r>
            <a:r>
              <a:rPr sz="2000" b="1" dirty="0" err="1">
                <a:solidFill>
                  <a:srgbClr val="1B3F8A"/>
                </a:solidFill>
                <a:latin typeface="Kaiti SC"/>
                <a:ea typeface="Kaiti SC"/>
              </a:rPr>
              <a:t>善用智能工具辅助开发</a:t>
            </a:r>
            <a:endParaRPr sz="2000" b="1" dirty="0">
              <a:solidFill>
                <a:srgbClr val="1B3F8A"/>
              </a:solidFill>
              <a:latin typeface="Kaiti SC"/>
              <a:ea typeface="Kaiti SC"/>
            </a:endParaRPr>
          </a:p>
          <a:p>
            <a:pPr algn="ctr"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各环节鼓励利用</a:t>
            </a:r>
            <a:r>
              <a:rPr lang="zh-CN" altLang="en-US" sz="2000" b="0" dirty="0">
                <a:solidFill>
                  <a:srgbClr val="232A31"/>
                </a:solidFill>
                <a:latin typeface="Kaiti SC"/>
                <a:ea typeface="Kaiti SC"/>
              </a:rPr>
              <a:t> </a:t>
            </a:r>
            <a:r>
              <a:rPr lang="en-US" altLang="zh-CN" sz="2000" b="0" dirty="0">
                <a:solidFill>
                  <a:srgbClr val="232A31"/>
                </a:solidFill>
                <a:latin typeface="Kaiti SC"/>
                <a:ea typeface="Kaiti SC"/>
              </a:rPr>
              <a:t>AI</a:t>
            </a:r>
            <a:r>
              <a:rPr lang="zh-CN" altLang="en-US" sz="2000" b="0" dirty="0">
                <a:solidFill>
                  <a:srgbClr val="232A31"/>
                </a:solidFill>
                <a:latin typeface="Kaiti SC"/>
                <a:ea typeface="Kaiti SC"/>
              </a:rPr>
              <a:t> </a:t>
            </a: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工具辅助分析与设计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 algn="ctr"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无需提交提示词记录，重在真正掌握核心逻辑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 algn="ctr"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验收严格考查个人参数与代码机理的掌握程度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63640" y="2286000"/>
            <a:ext cx="530352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原则二 · 个性化参数驱动开发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15 项系统参数基于学号独立生成，全班各不相同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涵盖数据结构、缓冲区规格、调度与页面置换策略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通用公开代码无法适配个人参数，必须自主调整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606C"/>
                </a:solidFill>
                <a:latin typeface="Kaiti SC"/>
                <a:ea typeface="Kaiti SC"/>
              </a:rPr>
              <a:t>✎ 准确描述需求的前提是自身掌握原理；只有理解透彻，才能有效利用工具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两项考核与纪律要求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78992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539496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要求一 · 坚持自主开发与真实答辩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验收问答紧扣个人参数与关键设计，深入考查细节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“模块中处理你专属参数的逻辑在哪？参数修改有何影响？”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现场能够迅速定位并条理清晰阐明因果链方可通过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286000"/>
            <a:ext cx="530352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要求二 · 按时参加现场答辩验收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每轮实验均安排面对面答辩，缺席或未通过可申请补验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补验须在一周内完成，按教学规定成绩以 60 分（D 档）为上限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建议合理规划时间，尽早完成编码并利用答疑时间提前验收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课内任务：开发环境配置与自检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相关工具与指引文档均已发布在课程平台相应目录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参考《学生环境安装指引》安装实验环境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支持 macOS (Homebrew)、Ubuntu/Debian 与 WSL2，约 20–40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81528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运行环境预检脚本（preflight.py）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执行 python3 preflight.py，全部 [ ok ] 即通过（GDB 提示可忽略）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51376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预检通过后领取初始代码包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按学号获取个人专属代码包，解压后执行 git init 完成首次提交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21224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掌握内核专用高效调试手段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参阅《学生调试手册》：运用 -d int、-d in_asm 与 monitor 控制台监控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55606C"/>
                </a:solidFill>
                <a:latin typeface="Kaiti SC"/>
                <a:ea typeface="Kaiti SC"/>
              </a:rPr>
              <a:t>✎ 如遇安装问题请对照指引末尾排障步骤，或记录完整报错请教师现场协助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173" y="1737360"/>
            <a:ext cx="11460480" cy="9919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 dirty="0">
                <a:solidFill>
                  <a:srgbClr val="1B3F8A"/>
                </a:solidFill>
                <a:latin typeface="Kaiti SC"/>
                <a:ea typeface="Kaiti SC"/>
              </a:rPr>
              <a:t>实验零（lab0）· </a:t>
            </a:r>
            <a:r>
              <a:rPr sz="4800" b="1" dirty="0" err="1">
                <a:solidFill>
                  <a:srgbClr val="1B3F8A"/>
                </a:solidFill>
                <a:latin typeface="Kaiti SC"/>
                <a:ea typeface="Kaiti SC"/>
              </a:rPr>
              <a:t>系统源码研读与架构梳理</a:t>
            </a:r>
            <a:endParaRPr sz="4800" b="1" dirty="0">
              <a:solidFill>
                <a:srgbClr val="1B3F8A"/>
              </a:solidFill>
              <a:latin typeface="Kaiti SC"/>
              <a:ea typeface="Kaiti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>
                <a:solidFill>
                  <a:srgbClr val="232A31"/>
                </a:solidFill>
                <a:latin typeface="Kaiti SC"/>
                <a:ea typeface="Kaiti SC"/>
              </a:rPr>
              <a:t>暂不编写代码。通过梳理关键流程与数据结构，建立操作系统的整体架构认知。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728655" cy="137160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考核形式：合格通过制，作为后续实验的前提基础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在实验一现场验收时结合答辩进行抽查；架构图须经独立思考后亲自绘制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964294" cy="481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dirty="0">
                <a:solidFill>
                  <a:srgbClr val="55606C"/>
                </a:solidFill>
                <a:latin typeface="Kaiti SC"/>
                <a:ea typeface="Kaiti SC"/>
              </a:rPr>
              <a:t>✎ 参考材料：课程源码参考树（xv6-riscv 快照）及参考书目《xv6 book》（rev5 </a:t>
            </a:r>
            <a:r>
              <a:rPr sz="2100" b="0" dirty="0" err="1">
                <a:solidFill>
                  <a:srgbClr val="55606C"/>
                </a:solidFill>
                <a:latin typeface="Kaiti SC"/>
                <a:ea typeface="Kaiti SC"/>
              </a:rPr>
              <a:t>版）前两章</a:t>
            </a:r>
            <a:endParaRPr sz="2100" b="0" dirty="0">
              <a:solidFill>
                <a:srgbClr val="55606C"/>
              </a:solidFill>
              <a:latin typeface="Kaiti SC"/>
              <a:ea typeface="Kaiti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实验零（lab0）· 推荐源码研读路径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建议遵循程序执行逻辑由浅入深研读，避免孤立通读源文件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① user/sh.c 的 main 循环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从用户态 Shell 交互与命令解析切入，理解用户进程行为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34056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② user/usys.pl 与 kernel/syscall.c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追踪系统调用从用户态进入内核态的参数传递与分发机制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10712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③ kernel/trampoline.S 与 kernel/trap.c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理解陷入（Trap）处理流程及上下文保存恢复与特权级转换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87368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④ kernel/exec.c 与 vm.c 中的 uvmcopy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分析进程地址空间创建、二进制程序加载与虚拟内存映射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64024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⑤ kernel/file.c 与 console.c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梳理文件描述符层级及字符输出到控制台设备的底层驱动路径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• 核心思考：调用上下文是谁？执行中是否会休眠阻塞？异常如何回滚？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   结合《xv6 book》第一章（系统接口）与第四章（陷入与异常）对照研读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实验零（lab0）· 需交付的三份架构图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全流程追踪 Shell 执行 echo 命令的完整生命周期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图一 · 全系统控制流流转图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呈现 read→fork→exec→write→exit 流程；标注栈归属、特权级与锁状态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272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图二 · 核心数据结构状态映射图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以 exec 刚执行完为切面，画出进程表、多级页表（标明权限与边界）及文件表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42816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图三 · 时钟中断处理时序流转图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从中断触发进入 usertrap 到 sret 恢复现场，清晰展现现场保护与调度全程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58384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• 图面附带个人思考批注（不少于 3 处）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232A31"/>
                </a:solidFill>
                <a:latin typeface="Kaiti SC"/>
                <a:ea typeface="Kaiti SC"/>
              </a:rPr>
              <a:t>   记录研读中的疑问、边界特例或设计见解，体现真实的分析思考过程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实验零（lab0）· 考核要求与建议投入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现场抽查合格即予通过，为后续模块实现奠定良好基础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通过标准（抽查核验）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① 核心系统调用控制流完整闭环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② 关键跳转准确标注特权级与栈归属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③ 核心数据结构字段完整、引用清晰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④ 页表边界虚拟地址与权限标注准确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⑤ 中断现场保护、调度与返回链路完整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86000"/>
            <a:ext cx="530352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1900" b="1">
                <a:solidFill>
                  <a:srgbClr val="1B3F8A"/>
                </a:solidFill>
                <a:latin typeface="Kaiti SC"/>
                <a:ea typeface="Kaiti SC"/>
              </a:rPr>
              <a:t>学时投入与答疑指引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控制流程研读与绘图：建议 6–8 小时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核心数据结构状态梳理：建议约 4 小时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建议第 1 周内完成，与实验一准备衔接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遇到疑难瓶颈，请携带草稿向教师答疑</a:t>
            </a:r>
          </a:p>
          <a:p>
            <a:pPr algn="ctr">
              <a:lnSpc>
                <a:spcPct val="128000"/>
              </a:lnSpc>
            </a:pPr>
            <a:r>
              <a:rPr sz="1700" b="0">
                <a:solidFill>
                  <a:srgbClr val="232A31"/>
                </a:solidFill>
                <a:latin typeface="Kaiti SC"/>
                <a:ea typeface="Kaiti SC"/>
              </a:rPr>
              <a:t>系统思维需渐进建立，积极沟通助突破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"/>
            <a:ext cx="11094415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B3F8A"/>
                </a:solidFill>
                <a:latin typeface="Kaiti SC"/>
                <a:ea typeface="Kaiti SC"/>
              </a:rPr>
              <a:t>融会贯通：从蓝图到代码实现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10029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5606C"/>
                </a:solidFill>
                <a:latin typeface="Kaiti SC"/>
                <a:ea typeface="Kaiti SC"/>
              </a:rPr>
              <a:t>实验零梳理的架构细节，将在后续各实验中逐一亲手实现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0957255" cy="36576"/>
          </a:xfrm>
          <a:prstGeom prst="rect">
            <a:avLst/>
          </a:prstGeom>
          <a:solidFill>
            <a:srgbClr val="B9C2CE"/>
          </a:solidFill>
          <a:ln w="12700">
            <a:solidFill>
              <a:srgbClr val="B9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28000"/>
              </a:lnSpc>
            </a:pPr>
            <a:r>
              <a:rPr sz="2000" b="1">
                <a:solidFill>
                  <a:srgbClr val="1B3F8A"/>
                </a:solidFill>
                <a:latin typeface="Kaiti SC"/>
                <a:ea typeface="Kaiti SC"/>
              </a:rPr>
              <a:t>架构图梳理的核心机制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系统调用与中断异常分发机制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多级页表与虚拟内存地址映射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进程生命周期管理与状态机演进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地址空间拷贝与写时复制优化</a:t>
            </a:r>
          </a:p>
          <a:p>
            <a:pPr algn="ctr">
              <a:lnSpc>
                <a:spcPct val="128000"/>
              </a:lnSpc>
            </a:pPr>
            <a:r>
              <a:rPr sz="2000" b="0">
                <a:solidFill>
                  <a:srgbClr val="232A31"/>
                </a:solidFill>
                <a:latin typeface="Kaiti SC"/>
                <a:ea typeface="Kaiti SC"/>
              </a:rPr>
              <a:t>文件描述符、缓存与持久化机制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286000"/>
            <a:ext cx="5303520" cy="3108960"/>
          </a:xfrm>
          <a:prstGeom prst="roundRect">
            <a:avLst/>
          </a:prstGeom>
          <a:solidFill>
            <a:srgbClr val="EEF2F8"/>
          </a:solidFill>
          <a:ln w="25400">
            <a:solidFill>
              <a:srgbClr val="3A55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576" rIns="72000" bIns="36576" rtlCol="0" anchor="ctr"/>
          <a:lstStyle/>
          <a:p>
            <a:pPr algn="ctr">
              <a:lnSpc>
                <a:spcPct val="128000"/>
              </a:lnSpc>
            </a:pPr>
            <a:r>
              <a:rPr sz="2000" b="1" dirty="0" err="1">
                <a:solidFill>
                  <a:srgbClr val="1B3F8A"/>
                </a:solidFill>
                <a:latin typeface="Kaiti SC"/>
                <a:ea typeface="Kaiti SC"/>
              </a:rPr>
              <a:t>对应后续实验项目</a:t>
            </a:r>
            <a:endParaRPr sz="2000" b="1" dirty="0">
              <a:solidFill>
                <a:srgbClr val="1B3F8A"/>
              </a:solidFill>
              <a:latin typeface="Kaiti SC"/>
              <a:ea typeface="Kaiti SC"/>
            </a:endParaRPr>
          </a:p>
          <a:p>
            <a:pPr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实验二：陷入机制、系统调用与控制台交互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>
              <a:lnSpc>
                <a:spcPct val="128000"/>
              </a:lnSpc>
            </a:pPr>
            <a:r>
              <a:rPr sz="2000" b="0" dirty="0">
                <a:solidFill>
                  <a:srgbClr val="232A31"/>
                </a:solidFill>
                <a:latin typeface="Kaiti SC"/>
                <a:ea typeface="Kaiti SC"/>
              </a:rPr>
              <a:t>实验三：SV39 </a:t>
            </a: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多级页表与物理内存管理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实验四：进程调度器与进程状态流转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实验五：写时复制（COW）机制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  <a:p>
            <a:pPr>
              <a:lnSpc>
                <a:spcPct val="128000"/>
              </a:lnSpc>
            </a:pPr>
            <a:r>
              <a:rPr sz="2000" b="0" dirty="0" err="1">
                <a:solidFill>
                  <a:srgbClr val="232A31"/>
                </a:solidFill>
                <a:latin typeface="Kaiti SC"/>
                <a:ea typeface="Kaiti SC"/>
              </a:rPr>
              <a:t>实验六：块缓存管理与日志文件系统</a:t>
            </a:r>
            <a:endParaRPr sz="2000" b="0" dirty="0">
              <a:solidFill>
                <a:srgbClr val="232A31"/>
              </a:solidFill>
              <a:latin typeface="Kaiti SC"/>
              <a:ea typeface="Kaiti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82132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dirty="0">
                <a:solidFill>
                  <a:srgbClr val="55606C"/>
                </a:solidFill>
                <a:latin typeface="Kaiti SC"/>
                <a:ea typeface="Kaiti SC"/>
              </a:rPr>
              <a:t>✎ </a:t>
            </a:r>
            <a:r>
              <a:rPr sz="2100" b="0" dirty="0" err="1">
                <a:solidFill>
                  <a:srgbClr val="55606C"/>
                </a:solidFill>
                <a:latin typeface="Kaiti SC"/>
                <a:ea typeface="Kaiti SC"/>
              </a:rPr>
              <a:t>下次课任务：实验一（内核引导与栈初始化</a:t>
            </a:r>
            <a:r>
              <a:rPr sz="2100" b="0" dirty="0">
                <a:solidFill>
                  <a:srgbClr val="55606C"/>
                </a:solidFill>
                <a:latin typeface="Kaiti SC"/>
                <a:ea typeface="Kaiti SC"/>
              </a:rPr>
              <a:t>）——</a:t>
            </a:r>
            <a:r>
              <a:rPr sz="2100" b="0" dirty="0" err="1">
                <a:solidFill>
                  <a:srgbClr val="55606C"/>
                </a:solidFill>
                <a:latin typeface="Kaiti SC"/>
                <a:ea typeface="Kaiti SC"/>
              </a:rPr>
              <a:t>请务必提前完成环境自检并准备好本地</a:t>
            </a:r>
            <a:r>
              <a:rPr sz="2100" b="0" dirty="0">
                <a:solidFill>
                  <a:srgbClr val="55606C"/>
                </a:solidFill>
                <a:latin typeface="Kaiti SC"/>
                <a:ea typeface="Kaiti SC"/>
              </a:rPr>
              <a:t> Git </a:t>
            </a:r>
            <a:r>
              <a:rPr sz="2100" b="0" dirty="0" err="1">
                <a:solidFill>
                  <a:srgbClr val="55606C"/>
                </a:solidFill>
                <a:latin typeface="Kaiti SC"/>
                <a:ea typeface="Kaiti SC"/>
              </a:rPr>
              <a:t>代码库</a:t>
            </a:r>
            <a:endParaRPr sz="2100" b="0" dirty="0">
              <a:solidFill>
                <a:srgbClr val="55606C"/>
              </a:solidFill>
              <a:latin typeface="Kaiti SC"/>
              <a:ea typeface="Kaiti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662</Words>
  <Application>Microsoft Macintosh PowerPoint</Application>
  <PresentationFormat>宽屏</PresentationFormat>
  <Paragraphs>135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Kaiti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蒋晶珏</cp:lastModifiedBy>
  <cp:revision>2</cp:revision>
  <dcterms:created xsi:type="dcterms:W3CDTF">2013-01-27T09:14:16Z</dcterms:created>
  <dcterms:modified xsi:type="dcterms:W3CDTF">2026-09-06T18:08:46Z</dcterms:modified>
  <cp:category/>
</cp:coreProperties>
</file>